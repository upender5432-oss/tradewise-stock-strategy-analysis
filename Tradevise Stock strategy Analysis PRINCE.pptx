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6" r:id="rId2"/>
  </p:sldMasterIdLst>
  <p:notesMasterIdLst>
    <p:notesMasterId r:id="rId17"/>
  </p:notesMasterIdLst>
  <p:sldIdLst>
    <p:sldId id="256" r:id="rId3"/>
    <p:sldId id="323" r:id="rId4"/>
    <p:sldId id="324" r:id="rId5"/>
    <p:sldId id="325" r:id="rId6"/>
    <p:sldId id="327" r:id="rId7"/>
    <p:sldId id="328" r:id="rId8"/>
    <p:sldId id="334" r:id="rId9"/>
    <p:sldId id="335" r:id="rId10"/>
    <p:sldId id="267" r:id="rId11"/>
    <p:sldId id="336" r:id="rId12"/>
    <p:sldId id="338" r:id="rId13"/>
    <p:sldId id="337" r:id="rId14"/>
    <p:sldId id="345" r:id="rId15"/>
    <p:sldId id="2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7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63" y="307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2026/7/1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2026/7/1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C3924-1769-43CB-A873-A22628BADA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手动输入 3"/>
          <p:cNvSpPr/>
          <p:nvPr/>
        </p:nvSpPr>
        <p:spPr>
          <a:xfrm rot="5400000" flipH="1">
            <a:off x="1673469" y="-470039"/>
            <a:ext cx="4225161" cy="7586288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 rot="16200000" flipH="1">
            <a:off x="7216044" y="510445"/>
            <a:ext cx="4225161" cy="5726753"/>
          </a:xfrm>
          <a:custGeom>
            <a:avLst/>
            <a:gdLst>
              <a:gd name="connsiteX0" fmla="*/ 0 w 4225161"/>
              <a:gd name="connsiteY0" fmla="*/ 1517258 h 5726753"/>
              <a:gd name="connsiteX1" fmla="*/ 0 w 4225161"/>
              <a:gd name="connsiteY1" fmla="*/ 5726753 h 5726753"/>
              <a:gd name="connsiteX2" fmla="*/ 4225161 w 4225161"/>
              <a:gd name="connsiteY2" fmla="*/ 5726752 h 5726753"/>
              <a:gd name="connsiteX3" fmla="*/ 4225161 w 4225161"/>
              <a:gd name="connsiteY3" fmla="*/ 0 h 5726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5726753">
                <a:moveTo>
                  <a:pt x="0" y="1517258"/>
                </a:moveTo>
                <a:lnTo>
                  <a:pt x="0" y="5726753"/>
                </a:lnTo>
                <a:lnTo>
                  <a:pt x="4225161" y="5726752"/>
                </a:lnTo>
                <a:lnTo>
                  <a:pt x="4225161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 rot="16200000" flipH="1">
            <a:off x="6215606" y="881606"/>
            <a:ext cx="6858000" cy="5094789"/>
          </a:xfrm>
          <a:custGeom>
            <a:avLst/>
            <a:gdLst>
              <a:gd name="connsiteX0" fmla="*/ 0 w 6858000"/>
              <a:gd name="connsiteY0" fmla="*/ 2462712 h 5094789"/>
              <a:gd name="connsiteX1" fmla="*/ 0 w 6858000"/>
              <a:gd name="connsiteY1" fmla="*/ 5094789 h 5094789"/>
              <a:gd name="connsiteX2" fmla="*/ 6858000 w 6858000"/>
              <a:gd name="connsiteY2" fmla="*/ 5094788 h 5094789"/>
              <a:gd name="connsiteX3" fmla="*/ 6858000 w 6858000"/>
              <a:gd name="connsiteY3" fmla="*/ 0 h 509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5094789">
                <a:moveTo>
                  <a:pt x="0" y="2462712"/>
                </a:moveTo>
                <a:lnTo>
                  <a:pt x="0" y="5094789"/>
                </a:lnTo>
                <a:lnTo>
                  <a:pt x="6858000" y="5094788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 rot="16200000" flipH="1">
            <a:off x="8045310" y="1339711"/>
            <a:ext cx="4225161" cy="4068221"/>
          </a:xfrm>
          <a:custGeom>
            <a:avLst/>
            <a:gdLst>
              <a:gd name="connsiteX0" fmla="*/ 0 w 4225161"/>
              <a:gd name="connsiteY0" fmla="*/ 1517258 h 4068221"/>
              <a:gd name="connsiteX1" fmla="*/ 0 w 4225161"/>
              <a:gd name="connsiteY1" fmla="*/ 4068221 h 4068221"/>
              <a:gd name="connsiteX2" fmla="*/ 4225161 w 4225161"/>
              <a:gd name="connsiteY2" fmla="*/ 4068220 h 4068221"/>
              <a:gd name="connsiteX3" fmla="*/ 4225161 w 4225161"/>
              <a:gd name="connsiteY3" fmla="*/ 0 h 406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4068221">
                <a:moveTo>
                  <a:pt x="0" y="1517258"/>
                </a:moveTo>
                <a:lnTo>
                  <a:pt x="0" y="4068221"/>
                </a:lnTo>
                <a:lnTo>
                  <a:pt x="4225161" y="4068220"/>
                </a:lnTo>
                <a:lnTo>
                  <a:pt x="4225161" y="0"/>
                </a:lnTo>
                <a:close/>
              </a:path>
            </a:pathLst>
          </a:cu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 rot="16200000" flipH="1">
            <a:off x="7044872" y="1710871"/>
            <a:ext cx="6858000" cy="3436258"/>
          </a:xfrm>
          <a:custGeom>
            <a:avLst/>
            <a:gdLst>
              <a:gd name="connsiteX0" fmla="*/ 0 w 6858000"/>
              <a:gd name="connsiteY0" fmla="*/ 2462712 h 3436258"/>
              <a:gd name="connsiteX1" fmla="*/ 0 w 6858000"/>
              <a:gd name="connsiteY1" fmla="*/ 3436258 h 3436258"/>
              <a:gd name="connsiteX2" fmla="*/ 6858000 w 6858000"/>
              <a:gd name="connsiteY2" fmla="*/ 3436257 h 3436258"/>
              <a:gd name="connsiteX3" fmla="*/ 6858000 w 6858000"/>
              <a:gd name="connsiteY3" fmla="*/ 0 h 343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3436258">
                <a:moveTo>
                  <a:pt x="0" y="2462712"/>
                </a:moveTo>
                <a:lnTo>
                  <a:pt x="0" y="3436258"/>
                </a:lnTo>
                <a:lnTo>
                  <a:pt x="6858000" y="3436257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635589" y="1780998"/>
            <a:ext cx="6006511" cy="2416132"/>
            <a:chOff x="635589" y="1780998"/>
            <a:chExt cx="6006511" cy="2416132"/>
          </a:xfrm>
        </p:grpSpPr>
        <p:sp>
          <p:nvSpPr>
            <p:cNvPr id="30" name="文本框 29"/>
            <p:cNvSpPr txBox="1"/>
            <p:nvPr/>
          </p:nvSpPr>
          <p:spPr>
            <a:xfrm>
              <a:off x="690862" y="1780998"/>
              <a:ext cx="570839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Trade Wise: Stock Strategy Analysis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693074" y="4146413"/>
              <a:ext cx="482138" cy="50717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5589" y="3661462"/>
              <a:ext cx="60065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IN" sz="2000" i="1" dirty="0"/>
                <a:t>Data-Driven Review &amp; Recommendations</a:t>
              </a:r>
              <a:endParaRPr lang="en-US" altLang="zh-CN" sz="2000" i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90862" y="4662390"/>
            <a:ext cx="3609443" cy="314481"/>
            <a:chOff x="4414802" y="4745227"/>
            <a:chExt cx="3609443" cy="314481"/>
          </a:xfrm>
        </p:grpSpPr>
        <p:grpSp>
          <p:nvGrpSpPr>
            <p:cNvPr id="5" name="组合 4"/>
            <p:cNvGrpSpPr/>
            <p:nvPr/>
          </p:nvGrpSpPr>
          <p:grpSpPr>
            <a:xfrm>
              <a:off x="6654696" y="4763888"/>
              <a:ext cx="290407" cy="290407"/>
              <a:chOff x="2633025" y="5543873"/>
              <a:chExt cx="290407" cy="290407"/>
            </a:xfrm>
            <a:solidFill>
              <a:schemeClr val="bg1"/>
            </a:solidFill>
          </p:grpSpPr>
          <p:sp>
            <p:nvSpPr>
              <p:cNvPr id="13" name="Oval 15"/>
              <p:cNvSpPr/>
              <p:nvPr/>
            </p:nvSpPr>
            <p:spPr bwMode="auto">
              <a:xfrm>
                <a:off x="2633025" y="5543873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4" name="Group 16"/>
              <p:cNvGrpSpPr/>
              <p:nvPr/>
            </p:nvGrpSpPr>
            <p:grpSpPr bwMode="auto">
              <a:xfrm>
                <a:off x="2726440" y="5588961"/>
                <a:ext cx="104062" cy="180353"/>
                <a:chOff x="4441" y="3117"/>
                <a:chExt cx="215" cy="372"/>
              </a:xfrm>
              <a:grpFill/>
            </p:grpSpPr>
            <p:sp>
              <p:nvSpPr>
                <p:cNvPr id="15" name="Freeform 17"/>
                <p:cNvSpPr/>
                <p:nvPr/>
              </p:nvSpPr>
              <p:spPr bwMode="auto">
                <a:xfrm>
                  <a:off x="4474" y="3117"/>
                  <a:ext cx="149" cy="253"/>
                </a:xfrm>
                <a:custGeom>
                  <a:avLst/>
                  <a:gdLst>
                    <a:gd name="T0" fmla="*/ 31 w 63"/>
                    <a:gd name="T1" fmla="*/ 107 h 107"/>
                    <a:gd name="T2" fmla="*/ 63 w 63"/>
                    <a:gd name="T3" fmla="*/ 78 h 107"/>
                    <a:gd name="T4" fmla="*/ 63 w 63"/>
                    <a:gd name="T5" fmla="*/ 29 h 107"/>
                    <a:gd name="T6" fmla="*/ 31 w 63"/>
                    <a:gd name="T7" fmla="*/ 0 h 107"/>
                    <a:gd name="T8" fmla="*/ 0 w 63"/>
                    <a:gd name="T9" fmla="*/ 29 h 107"/>
                    <a:gd name="T10" fmla="*/ 0 w 63"/>
                    <a:gd name="T11" fmla="*/ 78 h 107"/>
                    <a:gd name="T12" fmla="*/ 31 w 63"/>
                    <a:gd name="T13" fmla="*/ 107 h 107"/>
                    <a:gd name="T14" fmla="*/ 10 w 63"/>
                    <a:gd name="T15" fmla="*/ 29 h 107"/>
                    <a:gd name="T16" fmla="*/ 31 w 63"/>
                    <a:gd name="T17" fmla="*/ 10 h 107"/>
                    <a:gd name="T18" fmla="*/ 53 w 63"/>
                    <a:gd name="T19" fmla="*/ 29 h 107"/>
                    <a:gd name="T20" fmla="*/ 53 w 63"/>
                    <a:gd name="T21" fmla="*/ 78 h 107"/>
                    <a:gd name="T22" fmla="*/ 31 w 63"/>
                    <a:gd name="T23" fmla="*/ 97 h 107"/>
                    <a:gd name="T24" fmla="*/ 10 w 63"/>
                    <a:gd name="T25" fmla="*/ 78 h 107"/>
                    <a:gd name="T26" fmla="*/ 10 w 63"/>
                    <a:gd name="T27" fmla="*/ 2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3" h="107">
                      <a:moveTo>
                        <a:pt x="31" y="107"/>
                      </a:moveTo>
                      <a:cubicBezTo>
                        <a:pt x="49" y="107"/>
                        <a:pt x="63" y="94"/>
                        <a:pt x="63" y="78"/>
                      </a:cubicBezTo>
                      <a:cubicBezTo>
                        <a:pt x="63" y="29"/>
                        <a:pt x="63" y="29"/>
                        <a:pt x="63" y="29"/>
                      </a:cubicBezTo>
                      <a:cubicBezTo>
                        <a:pt x="63" y="13"/>
                        <a:pt x="49" y="0"/>
                        <a:pt x="31" y="0"/>
                      </a:cubicBezTo>
                      <a:cubicBezTo>
                        <a:pt x="14" y="0"/>
                        <a:pt x="0" y="13"/>
                        <a:pt x="0" y="29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94"/>
                        <a:pt x="14" y="107"/>
                        <a:pt x="31" y="107"/>
                      </a:cubicBezTo>
                      <a:close/>
                      <a:moveTo>
                        <a:pt x="10" y="29"/>
                      </a:moveTo>
                      <a:cubicBezTo>
                        <a:pt x="10" y="18"/>
                        <a:pt x="19" y="10"/>
                        <a:pt x="31" y="10"/>
                      </a:cubicBezTo>
                      <a:cubicBezTo>
                        <a:pt x="43" y="10"/>
                        <a:pt x="53" y="18"/>
                        <a:pt x="53" y="29"/>
                      </a:cubicBezTo>
                      <a:cubicBezTo>
                        <a:pt x="53" y="78"/>
                        <a:pt x="53" y="78"/>
                        <a:pt x="53" y="78"/>
                      </a:cubicBezTo>
                      <a:cubicBezTo>
                        <a:pt x="53" y="88"/>
                        <a:pt x="43" y="97"/>
                        <a:pt x="31" y="97"/>
                      </a:cubicBezTo>
                      <a:cubicBezTo>
                        <a:pt x="19" y="97"/>
                        <a:pt x="10" y="88"/>
                        <a:pt x="10" y="78"/>
                      </a:cubicBezTo>
                      <a:lnTo>
                        <a:pt x="10" y="29"/>
                      </a:ln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Freeform 18"/>
                <p:cNvSpPr/>
                <p:nvPr/>
              </p:nvSpPr>
              <p:spPr bwMode="auto">
                <a:xfrm>
                  <a:off x="4441" y="3267"/>
                  <a:ext cx="215" cy="222"/>
                </a:xfrm>
                <a:custGeom>
                  <a:avLst/>
                  <a:gdLst>
                    <a:gd name="T0" fmla="*/ 86 w 91"/>
                    <a:gd name="T1" fmla="*/ 0 h 94"/>
                    <a:gd name="T2" fmla="*/ 81 w 91"/>
                    <a:gd name="T3" fmla="*/ 5 h 94"/>
                    <a:gd name="T4" fmla="*/ 81 w 91"/>
                    <a:gd name="T5" fmla="*/ 28 h 94"/>
                    <a:gd name="T6" fmla="*/ 45 w 91"/>
                    <a:gd name="T7" fmla="*/ 59 h 94"/>
                    <a:gd name="T8" fmla="*/ 10 w 91"/>
                    <a:gd name="T9" fmla="*/ 28 h 94"/>
                    <a:gd name="T10" fmla="*/ 10 w 91"/>
                    <a:gd name="T11" fmla="*/ 5 h 94"/>
                    <a:gd name="T12" fmla="*/ 5 w 91"/>
                    <a:gd name="T13" fmla="*/ 0 h 94"/>
                    <a:gd name="T14" fmla="*/ 0 w 91"/>
                    <a:gd name="T15" fmla="*/ 5 h 94"/>
                    <a:gd name="T16" fmla="*/ 0 w 91"/>
                    <a:gd name="T17" fmla="*/ 28 h 94"/>
                    <a:gd name="T18" fmla="*/ 40 w 91"/>
                    <a:gd name="T19" fmla="*/ 69 h 94"/>
                    <a:gd name="T20" fmla="*/ 40 w 91"/>
                    <a:gd name="T21" fmla="*/ 84 h 94"/>
                    <a:gd name="T22" fmla="*/ 20 w 91"/>
                    <a:gd name="T23" fmla="*/ 84 h 94"/>
                    <a:gd name="T24" fmla="*/ 15 w 91"/>
                    <a:gd name="T25" fmla="*/ 89 h 94"/>
                    <a:gd name="T26" fmla="*/ 20 w 91"/>
                    <a:gd name="T27" fmla="*/ 94 h 94"/>
                    <a:gd name="T28" fmla="*/ 70 w 91"/>
                    <a:gd name="T29" fmla="*/ 94 h 94"/>
                    <a:gd name="T30" fmla="*/ 75 w 91"/>
                    <a:gd name="T31" fmla="*/ 89 h 94"/>
                    <a:gd name="T32" fmla="*/ 70 w 91"/>
                    <a:gd name="T33" fmla="*/ 84 h 94"/>
                    <a:gd name="T34" fmla="*/ 50 w 91"/>
                    <a:gd name="T35" fmla="*/ 84 h 94"/>
                    <a:gd name="T36" fmla="*/ 50 w 91"/>
                    <a:gd name="T37" fmla="*/ 69 h 94"/>
                    <a:gd name="T38" fmla="*/ 91 w 91"/>
                    <a:gd name="T39" fmla="*/ 28 h 94"/>
                    <a:gd name="T40" fmla="*/ 91 w 91"/>
                    <a:gd name="T41" fmla="*/ 5 h 94"/>
                    <a:gd name="T42" fmla="*/ 86 w 91"/>
                    <a:gd name="T43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1" h="94">
                      <a:moveTo>
                        <a:pt x="86" y="0"/>
                      </a:moveTo>
                      <a:cubicBezTo>
                        <a:pt x="83" y="0"/>
                        <a:pt x="81" y="3"/>
                        <a:pt x="81" y="5"/>
                      </a:cubicBezTo>
                      <a:cubicBezTo>
                        <a:pt x="81" y="28"/>
                        <a:pt x="81" y="28"/>
                        <a:pt x="81" y="28"/>
                      </a:cubicBezTo>
                      <a:cubicBezTo>
                        <a:pt x="81" y="45"/>
                        <a:pt x="65" y="59"/>
                        <a:pt x="45" y="59"/>
                      </a:cubicBezTo>
                      <a:cubicBezTo>
                        <a:pt x="26" y="59"/>
                        <a:pt x="10" y="45"/>
                        <a:pt x="10" y="28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2"/>
                        <a:pt x="8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49"/>
                        <a:pt x="18" y="67"/>
                        <a:pt x="40" y="69"/>
                      </a:cubicBezTo>
                      <a:cubicBezTo>
                        <a:pt x="40" y="84"/>
                        <a:pt x="40" y="84"/>
                        <a:pt x="40" y="84"/>
                      </a:cubicBezTo>
                      <a:cubicBezTo>
                        <a:pt x="20" y="84"/>
                        <a:pt x="20" y="84"/>
                        <a:pt x="20" y="84"/>
                      </a:cubicBezTo>
                      <a:cubicBezTo>
                        <a:pt x="18" y="84"/>
                        <a:pt x="15" y="86"/>
                        <a:pt x="15" y="89"/>
                      </a:cubicBezTo>
                      <a:cubicBezTo>
                        <a:pt x="15" y="92"/>
                        <a:pt x="18" y="94"/>
                        <a:pt x="20" y="94"/>
                      </a:cubicBezTo>
                      <a:cubicBezTo>
                        <a:pt x="70" y="94"/>
                        <a:pt x="70" y="94"/>
                        <a:pt x="70" y="94"/>
                      </a:cubicBezTo>
                      <a:cubicBezTo>
                        <a:pt x="73" y="94"/>
                        <a:pt x="75" y="92"/>
                        <a:pt x="75" y="89"/>
                      </a:cubicBezTo>
                      <a:cubicBezTo>
                        <a:pt x="75" y="86"/>
                        <a:pt x="73" y="84"/>
                        <a:pt x="70" y="84"/>
                      </a:cubicBez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73" y="67"/>
                        <a:pt x="91" y="49"/>
                        <a:pt x="91" y="28"/>
                      </a:cubicBezTo>
                      <a:cubicBezTo>
                        <a:pt x="91" y="5"/>
                        <a:pt x="91" y="5"/>
                        <a:pt x="91" y="5"/>
                      </a:cubicBezTo>
                      <a:cubicBezTo>
                        <a:pt x="91" y="3"/>
                        <a:pt x="88" y="0"/>
                        <a:pt x="86" y="0"/>
                      </a:cubicBez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4414802" y="4745227"/>
              <a:ext cx="290407" cy="290407"/>
              <a:chOff x="732769" y="5535598"/>
              <a:chExt cx="290407" cy="290407"/>
            </a:xfrm>
            <a:solidFill>
              <a:schemeClr val="bg1"/>
            </a:solidFill>
          </p:grpSpPr>
          <p:sp>
            <p:nvSpPr>
              <p:cNvPr id="9" name="Oval 10"/>
              <p:cNvSpPr/>
              <p:nvPr/>
            </p:nvSpPr>
            <p:spPr bwMode="auto">
              <a:xfrm>
                <a:off x="732769" y="5535598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 dirty="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811795" y="5598991"/>
                <a:ext cx="132841" cy="151011"/>
                <a:chOff x="860980" y="3583766"/>
                <a:chExt cx="100336" cy="114060"/>
              </a:xfrm>
              <a:grpFill/>
            </p:grpSpPr>
            <p:sp>
              <p:nvSpPr>
                <p:cNvPr id="11" name="Freeform 12"/>
                <p:cNvSpPr/>
                <p:nvPr/>
              </p:nvSpPr>
              <p:spPr bwMode="auto">
                <a:xfrm>
                  <a:off x="884050" y="3583766"/>
                  <a:ext cx="53830" cy="53740"/>
                </a:xfrm>
                <a:custGeom>
                  <a:avLst/>
                  <a:gdLst>
                    <a:gd name="T0" fmla="*/ 31 w 62"/>
                    <a:gd name="T1" fmla="*/ 62 h 62"/>
                    <a:gd name="T2" fmla="*/ 0 w 62"/>
                    <a:gd name="T3" fmla="*/ 31 h 62"/>
                    <a:gd name="T4" fmla="*/ 31 w 62"/>
                    <a:gd name="T5" fmla="*/ 0 h 62"/>
                    <a:gd name="T6" fmla="*/ 62 w 62"/>
                    <a:gd name="T7" fmla="*/ 31 h 62"/>
                    <a:gd name="T8" fmla="*/ 31 w 62"/>
                    <a:gd name="T9" fmla="*/ 62 h 62"/>
                    <a:gd name="T10" fmla="*/ 31 w 62"/>
                    <a:gd name="T11" fmla="*/ 11 h 62"/>
                    <a:gd name="T12" fmla="*/ 11 w 62"/>
                    <a:gd name="T13" fmla="*/ 31 h 62"/>
                    <a:gd name="T14" fmla="*/ 31 w 62"/>
                    <a:gd name="T15" fmla="*/ 51 h 62"/>
                    <a:gd name="T16" fmla="*/ 51 w 62"/>
                    <a:gd name="T17" fmla="*/ 31 h 62"/>
                    <a:gd name="T18" fmla="*/ 31 w 62"/>
                    <a:gd name="T19" fmla="*/ 11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2" h="62">
                      <a:moveTo>
                        <a:pt x="31" y="62"/>
                      </a:moveTo>
                      <a:cubicBezTo>
                        <a:pt x="14" y="62"/>
                        <a:pt x="0" y="48"/>
                        <a:pt x="0" y="31"/>
                      </a:cubicBezTo>
                      <a:cubicBezTo>
                        <a:pt x="0" y="14"/>
                        <a:pt x="14" y="0"/>
                        <a:pt x="31" y="0"/>
                      </a:cubicBezTo>
                      <a:cubicBezTo>
                        <a:pt x="48" y="0"/>
                        <a:pt x="62" y="14"/>
                        <a:pt x="62" y="31"/>
                      </a:cubicBezTo>
                      <a:cubicBezTo>
                        <a:pt x="62" y="48"/>
                        <a:pt x="48" y="62"/>
                        <a:pt x="31" y="62"/>
                      </a:cubicBezTo>
                      <a:close/>
                      <a:moveTo>
                        <a:pt x="31" y="11"/>
                      </a:moveTo>
                      <a:cubicBezTo>
                        <a:pt x="20" y="11"/>
                        <a:pt x="11" y="20"/>
                        <a:pt x="11" y="31"/>
                      </a:cubicBezTo>
                      <a:cubicBezTo>
                        <a:pt x="11" y="42"/>
                        <a:pt x="20" y="51"/>
                        <a:pt x="31" y="51"/>
                      </a:cubicBezTo>
                      <a:cubicBezTo>
                        <a:pt x="42" y="51"/>
                        <a:pt x="51" y="42"/>
                        <a:pt x="51" y="31"/>
                      </a:cubicBezTo>
                      <a:cubicBezTo>
                        <a:pt x="51" y="20"/>
                        <a:pt x="42" y="11"/>
                        <a:pt x="31" y="11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Freeform 13"/>
                <p:cNvSpPr/>
                <p:nvPr/>
              </p:nvSpPr>
              <p:spPr bwMode="auto">
                <a:xfrm>
                  <a:off x="860980" y="3643355"/>
                  <a:ext cx="100336" cy="54471"/>
                </a:xfrm>
                <a:custGeom>
                  <a:avLst/>
                  <a:gdLst>
                    <a:gd name="T0" fmla="*/ 111 w 116"/>
                    <a:gd name="T1" fmla="*/ 63 h 63"/>
                    <a:gd name="T2" fmla="*/ 105 w 116"/>
                    <a:gd name="T3" fmla="*/ 58 h 63"/>
                    <a:gd name="T4" fmla="*/ 58 w 116"/>
                    <a:gd name="T5" fmla="*/ 11 h 63"/>
                    <a:gd name="T6" fmla="*/ 11 w 116"/>
                    <a:gd name="T7" fmla="*/ 58 h 63"/>
                    <a:gd name="T8" fmla="*/ 6 w 116"/>
                    <a:gd name="T9" fmla="*/ 63 h 63"/>
                    <a:gd name="T10" fmla="*/ 0 w 116"/>
                    <a:gd name="T11" fmla="*/ 58 h 63"/>
                    <a:gd name="T12" fmla="*/ 58 w 116"/>
                    <a:gd name="T13" fmla="*/ 0 h 63"/>
                    <a:gd name="T14" fmla="*/ 116 w 116"/>
                    <a:gd name="T15" fmla="*/ 58 h 63"/>
                    <a:gd name="T16" fmla="*/ 111 w 116"/>
                    <a:gd name="T1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63">
                      <a:moveTo>
                        <a:pt x="111" y="63"/>
                      </a:moveTo>
                      <a:cubicBezTo>
                        <a:pt x="108" y="63"/>
                        <a:pt x="105" y="61"/>
                        <a:pt x="105" y="58"/>
                      </a:cubicBezTo>
                      <a:cubicBezTo>
                        <a:pt x="105" y="32"/>
                        <a:pt x="84" y="11"/>
                        <a:pt x="58" y="11"/>
                      </a:cubicBezTo>
                      <a:cubicBezTo>
                        <a:pt x="32" y="11"/>
                        <a:pt x="11" y="32"/>
                        <a:pt x="11" y="58"/>
                      </a:cubicBezTo>
                      <a:cubicBezTo>
                        <a:pt x="11" y="61"/>
                        <a:pt x="9" y="63"/>
                        <a:pt x="6" y="63"/>
                      </a:cubicBezTo>
                      <a:cubicBezTo>
                        <a:pt x="3" y="63"/>
                        <a:pt x="0" y="61"/>
                        <a:pt x="0" y="58"/>
                      </a:cubicBezTo>
                      <a:cubicBezTo>
                        <a:pt x="0" y="26"/>
                        <a:pt x="26" y="0"/>
                        <a:pt x="58" y="0"/>
                      </a:cubicBezTo>
                      <a:cubicBezTo>
                        <a:pt x="90" y="0"/>
                        <a:pt x="116" y="26"/>
                        <a:pt x="116" y="58"/>
                      </a:cubicBezTo>
                      <a:cubicBezTo>
                        <a:pt x="116" y="61"/>
                        <a:pt x="114" y="63"/>
                        <a:pt x="111" y="63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7" name="Text Box 20"/>
            <p:cNvSpPr txBox="1"/>
            <p:nvPr/>
          </p:nvSpPr>
          <p:spPr bwMode="auto">
            <a:xfrm>
              <a:off x="6945103" y="4751931"/>
              <a:ext cx="1079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01.07.2026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705028" y="4751931"/>
              <a:ext cx="177805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Prince Kumar Singh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4" grpId="0" animBg="1"/>
      <p:bldP spid="26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20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16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INTRODUCTION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94598" y="1457509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355690" y="2471676"/>
            <a:ext cx="7528335" cy="1914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A stock represents ownership in a publicly listed company and is traded on a stock exchange.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Trade refers to the process of buying or selling shares between a buyer and seller at an agreed price.​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Trading stocks enables investors to potentially earn profits from short-term price movements and market fluctuations.​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Stock trades are executed online or through brokers, and help provide liquidity in the financial markets.</a:t>
            </a:r>
          </a:p>
        </p:txBody>
      </p:sp>
      <p:pic>
        <p:nvPicPr>
          <p:cNvPr id="8194" name="Picture 2" descr="black and silver laptop computer">
            <a:extLst>
              <a:ext uri="{FF2B5EF4-FFF2-40B4-BE49-F238E27FC236}">
                <a16:creationId xmlns:a16="http://schemas.microsoft.com/office/drawing/2014/main" id="{26E3CB4A-6E5A-FECC-5A81-4BC3BAB9E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98" y="2679318"/>
            <a:ext cx="4081760" cy="272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20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16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OBJECTIVES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318423" y="1457509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487483" y="3184278"/>
            <a:ext cx="8510762" cy="2538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sz="2000" dirty="0" err="1"/>
              <a:t>Analyze</a:t>
            </a:r>
            <a:r>
              <a:rPr lang="en-GB" altLang="en-US" sz="2000" dirty="0"/>
              <a:t> top 20 Nifty 50 stocks using 5 years of historical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sz="2000" dirty="0"/>
              <a:t>Apply technical strategies and performance metrics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sz="2000" dirty="0"/>
              <a:t>Generate actionable investment insights</a:t>
            </a:r>
            <a:endParaRPr lang="en-US" altLang="en-US" sz="2000" dirty="0"/>
          </a:p>
        </p:txBody>
      </p:sp>
      <p:pic>
        <p:nvPicPr>
          <p:cNvPr id="1028" name="Picture 4" descr="10 pounds on gray textile">
            <a:extLst>
              <a:ext uri="{FF2B5EF4-FFF2-40B4-BE49-F238E27FC236}">
                <a16:creationId xmlns:a16="http://schemas.microsoft.com/office/drawing/2014/main" id="{B615BD9A-CCA3-DC8F-2C2D-5C7B6C10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23" y="2482791"/>
            <a:ext cx="4083468" cy="30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1" y="204280"/>
            <a:ext cx="4640826" cy="886176"/>
            <a:chOff x="-194553" y="629093"/>
            <a:chExt cx="6221882" cy="1581963"/>
          </a:xfrm>
        </p:grpSpPr>
        <p:grpSp>
          <p:nvGrpSpPr>
            <p:cNvPr id="20" name="组合 19"/>
            <p:cNvGrpSpPr/>
            <p:nvPr/>
          </p:nvGrpSpPr>
          <p:grpSpPr>
            <a:xfrm>
              <a:off x="-194553" y="629093"/>
              <a:ext cx="6221882" cy="1581963"/>
              <a:chOff x="494557" y="735379"/>
              <a:chExt cx="8553216" cy="2121504"/>
            </a:xfrm>
          </p:grpSpPr>
          <p:sp>
            <p:nvSpPr>
              <p:cNvPr id="16" name="流程图: 手动输入 15"/>
              <p:cNvSpPr/>
              <p:nvPr/>
            </p:nvSpPr>
            <p:spPr>
              <a:xfrm rot="16200000" flipH="1" flipV="1">
                <a:off x="4194317" y="-1996574"/>
                <a:ext cx="2121500" cy="7585413"/>
              </a:xfrm>
              <a:prstGeom prst="flowChartManualInpu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流程图: 手动输入 16"/>
              <p:cNvSpPr/>
              <p:nvPr/>
            </p:nvSpPr>
            <p:spPr>
              <a:xfrm rot="16200000" flipH="1" flipV="1">
                <a:off x="3360676" y="-2130740"/>
                <a:ext cx="2121502" cy="7853739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34" y="766890"/>
              <a:ext cx="5193935" cy="789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Stock Data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60480" y="1922005"/>
              <a:ext cx="707101" cy="45720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7" name="Google Shape;80;p5"/>
          <p:cNvSpPr txBox="1"/>
          <p:nvPr/>
        </p:nvSpPr>
        <p:spPr>
          <a:xfrm>
            <a:off x="6351038" y="3429000"/>
            <a:ext cx="6330797" cy="486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Date: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Trading day timestamp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Open, High, Low, Close: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Daily prices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Volume: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Number of shares traded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Stock: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Stock symbol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1750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endParaRPr sz="1100" b="0" i="0" u="none" strike="noStrike" cap="none" dirty="0">
              <a:solidFill>
                <a:schemeClr val="dk1"/>
              </a:solidFill>
              <a:latin typeface="+mn-lt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" t="19369" r="4952" b="6651"/>
          <a:stretch>
            <a:fillRect/>
          </a:stretch>
        </p:blipFill>
        <p:spPr>
          <a:xfrm>
            <a:off x="363894" y="2752531"/>
            <a:ext cx="5477070" cy="3766833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7" name="Google Shape;80;p5"/>
          <p:cNvSpPr txBox="1"/>
          <p:nvPr/>
        </p:nvSpPr>
        <p:spPr>
          <a:xfrm>
            <a:off x="6096000" y="2995557"/>
            <a:ext cx="5771689" cy="2441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Removed duplicate records and null values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Verified date consistency and ensured proper sorting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Standardized stock symbols and price formats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Validated volume and price ranges for outliers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Ensured 5-year historical data completeness for all 20 stocks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" t="19369" r="4952" b="6651"/>
          <a:stretch>
            <a:fillRect/>
          </a:stretch>
        </p:blipFill>
        <p:spPr>
          <a:xfrm>
            <a:off x="363894" y="2752531"/>
            <a:ext cx="5477070" cy="3766833"/>
          </a:xfrm>
          <a:prstGeom prst="rect">
            <a:avLst/>
          </a:prstGeom>
        </p:spPr>
      </p:pic>
      <p:grpSp>
        <p:nvGrpSpPr>
          <p:cNvPr id="4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5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9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Data Cleaning</a:t>
              </a:r>
            </a:p>
          </p:txBody>
        </p:sp>
        <p:sp>
          <p:nvSpPr>
            <p:cNvPr id="8" name="矩形 21"/>
            <p:cNvSpPr/>
            <p:nvPr/>
          </p:nvSpPr>
          <p:spPr>
            <a:xfrm>
              <a:off x="264816" y="1466662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7" name="Google Shape;80;p5"/>
          <p:cNvSpPr txBox="1"/>
          <p:nvPr/>
        </p:nvSpPr>
        <p:spPr>
          <a:xfrm>
            <a:off x="5774692" y="2252835"/>
            <a:ext cx="2631887" cy="193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Tools &amp; Libraries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Pandas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Numpy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Matplotlib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Seaborn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5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9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Methodology</a:t>
              </a:r>
            </a:p>
          </p:txBody>
        </p:sp>
        <p:sp>
          <p:nvSpPr>
            <p:cNvPr id="8" name="矩形 21"/>
            <p:cNvSpPr/>
            <p:nvPr/>
          </p:nvSpPr>
          <p:spPr>
            <a:xfrm>
              <a:off x="264816" y="1466662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4"/>
          <a:stretch>
            <a:fillRect/>
          </a:stretch>
        </p:blipFill>
        <p:spPr>
          <a:xfrm>
            <a:off x="343678" y="2041219"/>
            <a:ext cx="4278094" cy="3911712"/>
          </a:xfrm>
          <a:prstGeom prst="rect">
            <a:avLst/>
          </a:prstGeom>
        </p:spPr>
      </p:pic>
      <p:sp>
        <p:nvSpPr>
          <p:cNvPr id="2" name="Google Shape;80;p5">
            <a:extLst>
              <a:ext uri="{FF2B5EF4-FFF2-40B4-BE49-F238E27FC236}">
                <a16:creationId xmlns:a16="http://schemas.microsoft.com/office/drawing/2014/main" id="{667B109C-D693-B3F7-2F04-FB531E1CFC34}"/>
              </a:ext>
            </a:extLst>
          </p:cNvPr>
          <p:cNvSpPr txBox="1"/>
          <p:nvPr/>
        </p:nvSpPr>
        <p:spPr>
          <a:xfrm>
            <a:off x="8236366" y="2252834"/>
            <a:ext cx="3611955" cy="225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Techniques Applied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Moving Average Crossover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Technical Indicators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Risk Return Analysis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13162"/>
            <a:ext cx="5439740" cy="594534"/>
            <a:chOff x="2315029" y="2507335"/>
            <a:chExt cx="6839263" cy="747495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408279" y="2507335"/>
              <a:ext cx="6746013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2800" i="1" dirty="0"/>
                <a:t>Annualized Returns Comparison</a:t>
              </a:r>
              <a:endParaRPr lang="en-IN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94357" y="1968428"/>
              <a:ext cx="3484756" cy="373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b="1" dirty="0">
                  <a:cs typeface="+mn-lt"/>
                </a:rPr>
                <a:t>TATA STEEL </a:t>
              </a:r>
              <a:r>
                <a:rPr lang="en-GB" sz="1400" dirty="0">
                  <a:cs typeface="+mn-lt"/>
                </a:rPr>
                <a:t>delivered the highest annualized return among the top 20 stocks, making it a strong performer for long-term growth.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b="1" dirty="0">
                  <a:cs typeface="+mn-lt"/>
                </a:rPr>
                <a:t>JSW STEEL , WIPRO , and ICICI BANK </a:t>
              </a:r>
              <a:r>
                <a:rPr lang="en-GB" sz="1400" dirty="0">
                  <a:cs typeface="+mn-lt"/>
                </a:rPr>
                <a:t>also showed robust annualized returns, indicating steady gains.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dirty="0">
                  <a:cs typeface="+mn-lt"/>
                </a:rPr>
                <a:t>Stocks such as </a:t>
              </a:r>
              <a:r>
                <a:rPr lang="en-GB" sz="1400" b="1" dirty="0">
                  <a:cs typeface="+mn-lt"/>
                </a:rPr>
                <a:t>COAL INDIA , HDFC BANK , and NTPC</a:t>
              </a:r>
              <a:r>
                <a:rPr lang="en-GB" sz="1400" dirty="0">
                  <a:cs typeface="+mn-lt"/>
                </a:rPr>
                <a:t> had the lowest or negative annualized returns, suggesting underperformance over the period.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dirty="0">
                  <a:cs typeface="+mn-lt"/>
                </a:rPr>
                <a:t>Most stocks in the middle range provided moderate but consistent growth, which could help diversify risk if included in a portfolio.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dirty="0">
                  <a:cs typeface="+mn-lt"/>
                </a:rPr>
                <a:t>Focus new investments on high-performing stocks like </a:t>
              </a:r>
              <a:r>
                <a:rPr lang="en-GB" sz="1400" b="1" dirty="0">
                  <a:cs typeface="+mn-lt"/>
                </a:rPr>
                <a:t>TATA STEEL , JSW STEEL , and WIPRO </a:t>
              </a:r>
              <a:r>
                <a:rPr lang="en-GB" sz="1400" dirty="0">
                  <a:cs typeface="+mn-lt"/>
                </a:rPr>
                <a:t>, which have shown the most consistent growth.</a:t>
              </a:r>
              <a:endParaRPr lang="en-IN" sz="1400" dirty="0">
                <a:cs typeface="+mn-lt"/>
              </a:endParaRPr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71103" y="6141063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13D4064-5B1A-D72A-F762-5E959CFF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4" y="1823766"/>
            <a:ext cx="6453582" cy="321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2995"/>
            <a:ext cx="5211387" cy="584701"/>
            <a:chOff x="2315029" y="2519698"/>
            <a:chExt cx="6552160" cy="735132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41905" y="2519698"/>
              <a:ext cx="6525284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Total Return vs Trading Volume</a:t>
              </a:r>
              <a:endParaRPr lang="en-GB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94357" y="2136114"/>
              <a:ext cx="3484756" cy="373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Most stocks with high total returns did not necessarily have the highest trading volumes.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A few stocks delivered strong returns even at low or moderate trade volumes, showing that volume alone does not guarantee growth.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The visible clustering suggests most top-performing stocks trade in a similar moderate volume range.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Prioritize stock selection based on both return and consistent trade volume, not volume alone.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Review high-return, moderate-volume stocks for their suitability in long-term strategies.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Incorporate volume analysis when timing entries and exits, but do not depend solely on volume to pick winners.</a:t>
              </a:r>
              <a:endParaRPr lang="en-IN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477797" y="6018064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E34F08-CC23-E1CA-0F9C-D78609B31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5" y="1607562"/>
            <a:ext cx="6688923" cy="399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2999"/>
            <a:ext cx="3527464" cy="584701"/>
            <a:chOff x="2315029" y="2519699"/>
            <a:chExt cx="4435001" cy="735131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41905" y="2519699"/>
              <a:ext cx="4408125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Correlation Heatmap</a:t>
              </a:r>
              <a:endParaRPr lang="zh-CN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94357" y="2136114"/>
              <a:ext cx="3484756" cy="4100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Some stocks, </a:t>
              </a:r>
              <a:r>
                <a:rPr lang="en-GB" altLang="en-US" dirty="0"/>
                <a:t>like ICICI BANK , AXIS_BANK , and SBI_BANK , have strong positive correlations</a:t>
              </a:r>
              <a:r>
                <a:rPr lang="en-GB" altLang="en-US" b="0" dirty="0"/>
                <a:t>, meaning their prices often change together.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A few pairs, such as </a:t>
              </a:r>
              <a:r>
                <a:rPr lang="en-GB" altLang="en-US" dirty="0"/>
                <a:t>TATA STEEL and JSW STEEL, also display high correlation</a:t>
              </a:r>
              <a:r>
                <a:rPr lang="en-GB" altLang="en-US" b="0" dirty="0"/>
                <a:t>, likely because they share similar market drivers.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Some stocks, such as </a:t>
              </a:r>
              <a:r>
                <a:rPr lang="en-GB" altLang="en-US" dirty="0"/>
                <a:t>COAL INDIA and WIPRO , show weaker or even negative correlation </a:t>
              </a:r>
              <a:r>
                <a:rPr lang="en-GB" altLang="en-US" b="0" dirty="0"/>
                <a:t>to most other stocks, making them good choices for diversification.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Pair highly correlated stocks only for short-term trading strategies, not for long-term diversification.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For </a:t>
              </a:r>
              <a:r>
                <a:rPr lang="en-GB" altLang="en-US" dirty="0"/>
                <a:t>lower portfolio risk</a:t>
              </a:r>
              <a:r>
                <a:rPr lang="en-GB" altLang="en-US" b="0" dirty="0"/>
                <a:t>, include stocks that show weaker correlations to others, </a:t>
              </a:r>
              <a:r>
                <a:rPr lang="en-GB" altLang="en-US" dirty="0"/>
                <a:t>such as WIPRO and COAL INDIA 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477797" y="6018064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ABEF415-36D9-6DB5-98E9-1AADA9362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00" y="1112407"/>
            <a:ext cx="5905062" cy="530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1" y="161109"/>
            <a:ext cx="2912713" cy="546590"/>
            <a:chOff x="2315029" y="2567615"/>
            <a:chExt cx="3662086" cy="687215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479960" y="2567615"/>
              <a:ext cx="3497155" cy="657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Best Performers</a:t>
              </a:r>
              <a:endParaRPr lang="en-GB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25258" y="2242658"/>
              <a:ext cx="3484756" cy="3917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TATA STEEL, WIPRO, JSW STEEL, and HINDALCO </a:t>
              </a:r>
              <a:r>
                <a:rPr lang="en-GB" altLang="en-US" b="0" dirty="0"/>
                <a:t>all achieved strong total returns over the analysis period.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These stocks consistently outperformed many of their peers, indicating effective growth and opportunity for investors.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Metals and industrial stocks (TATA STEEL, JSW STEEL, HINDALCO) dominated among the highest returns</a:t>
              </a:r>
              <a:r>
                <a:rPr lang="en-GB" b="0" dirty="0"/>
                <a:t>, highlighting sector trends during the period.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Consider prioritizing investments in leading performers like TATA STEEL, JSW STEEL, WIPRO, and HINDALCO</a:t>
              </a:r>
              <a:r>
                <a:rPr lang="en-GB" altLang="en-US" b="0" dirty="0"/>
                <a:t>, based on their strong track record.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Diversify across these top stocks rather than concentrating in a single name to spread risk and capture upside potential.</a:t>
              </a: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23235" y="6559239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890637-59E9-A739-377E-8CC31123D4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65"/>
          <a:stretch>
            <a:fillRect/>
          </a:stretch>
        </p:blipFill>
        <p:spPr bwMode="auto">
          <a:xfrm>
            <a:off x="410873" y="945751"/>
            <a:ext cx="6232148" cy="535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5312"/>
            <a:ext cx="3022519" cy="582385"/>
            <a:chOff x="2315029" y="2522610"/>
            <a:chExt cx="3800144" cy="732220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41905" y="2522610"/>
              <a:ext cx="3773268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Worst Performers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25258" y="2300945"/>
              <a:ext cx="3484756" cy="3551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ADANI_PORTS, INFOSYS, TATA MOTORS, and WIPRO recorded negative total returns </a:t>
              </a:r>
              <a:r>
                <a:rPr lang="en-GB" altLang="en-US" b="0" dirty="0"/>
                <a:t>over the </a:t>
              </a:r>
              <a:r>
                <a:rPr lang="en-GB" altLang="en-US" b="0" dirty="0" err="1"/>
                <a:t>analyzed</a:t>
              </a:r>
              <a:r>
                <a:rPr lang="en-GB" altLang="en-US" b="0" dirty="0"/>
                <a:t> period.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These stocks underperformed compared to their peers, indicating challenges in generating profits for investors.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Consistent negative returns suggest these stocks faced either sector-specific pressures or company-specific issues affecting growth.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Limit new investments in stocks with historical negative returns unless there is strong evidence of a turnaround.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Review the financial health and business outlook of these companies before considering further exposure.</a:t>
              </a: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23235" y="6559239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B748C5B-DA82-D77C-9FC3-3467274F9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13"/>
          <a:stretch>
            <a:fillRect/>
          </a:stretch>
        </p:blipFill>
        <p:spPr bwMode="auto">
          <a:xfrm>
            <a:off x="438866" y="1008553"/>
            <a:ext cx="6204155" cy="51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5312"/>
            <a:ext cx="5730158" cy="582384"/>
            <a:chOff x="2315029" y="2522611"/>
            <a:chExt cx="7204397" cy="732219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15029" y="2522611"/>
              <a:ext cx="7204397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2800" i="1" dirty="0">
                  <a:cs typeface="+mn-ea"/>
                  <a:sym typeface="+mn-lt"/>
                </a:rPr>
                <a:t>Top Investment Recommendations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25258" y="2506263"/>
              <a:ext cx="3484756" cy="28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WIPRO and JSW STEEL produced the highest total returns </a:t>
              </a:r>
              <a:r>
                <a:rPr lang="en-GB" altLang="en-US" b="0" dirty="0"/>
                <a:t>in the group, outpacing ITC and TATA MOTORS 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ITC achieved the best risk-adjusted performance, posting the highest Sharpe ratio and the lowest maximum drawdow</a:t>
              </a:r>
              <a:r>
                <a:rPr lang="en-GB" altLang="en-US" b="0" dirty="0"/>
                <a:t>n, </a:t>
              </a:r>
              <a:r>
                <a:rPr lang="en-GB" altLang="en-US" b="0" dirty="0" err="1"/>
                <a:t>signaling</a:t>
              </a:r>
              <a:r>
                <a:rPr lang="en-GB" altLang="en-US" b="0" dirty="0"/>
                <a:t> strong stability.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Win/loss ratios are highest for ITC and JSW STEEL</a:t>
              </a:r>
              <a:r>
                <a:rPr lang="en-GB" altLang="en-US" b="0" dirty="0"/>
                <a:t>, showing frequent successful trades.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JSW STEEL displayed the greatest drawdown</a:t>
              </a:r>
              <a:r>
                <a:rPr lang="en-GB" altLang="en-US" b="0" dirty="0"/>
                <a:t>, indicating higher risk compared to other top performers.</a:t>
              </a: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23235" y="6559239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1D42367-44EA-58D4-D043-992B83A4E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34" y="1294417"/>
            <a:ext cx="6398125" cy="455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5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9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Conclusion</a:t>
              </a:r>
            </a:p>
          </p:txBody>
        </p:sp>
        <p:sp>
          <p:nvSpPr>
            <p:cNvPr id="8" name="矩形 21"/>
            <p:cNvSpPr/>
            <p:nvPr/>
          </p:nvSpPr>
          <p:spPr>
            <a:xfrm>
              <a:off x="264816" y="1466662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4"/>
          <a:stretch>
            <a:fillRect/>
          </a:stretch>
        </p:blipFill>
        <p:spPr>
          <a:xfrm>
            <a:off x="343678" y="2041219"/>
            <a:ext cx="4278094" cy="39117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36466" y="1966597"/>
            <a:ext cx="737931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Top Performers: </a:t>
            </a:r>
            <a:r>
              <a:rPr lang="en-GB" sz="1600" dirty="0"/>
              <a:t>TATA STEEL, JSW STEEL, WIPRO, HINDALCO delivered highest returns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Risk-Adjusted Winners: </a:t>
            </a:r>
            <a:r>
              <a:rPr lang="en-GB" sz="1600" dirty="0"/>
              <a:t>ITC, ICICI BANK balanced growth with stability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Avoid: </a:t>
            </a:r>
            <a:r>
              <a:rPr lang="en-GB" sz="1600" dirty="0"/>
              <a:t>Steer clear of COAL INDIA, NTPC with consistent underperformance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Diversify Wisely: </a:t>
            </a:r>
            <a:r>
              <a:rPr lang="en-GB" sz="1600" dirty="0"/>
              <a:t>Mix correlated and uncorrelated stocks for optimal portfolio balance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Trade Volume Matters: </a:t>
            </a:r>
            <a:r>
              <a:rPr lang="en-GB" sz="1600" dirty="0"/>
              <a:t>Higher volume doesn't guarantee better returns focus on fundamentals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Strategy Works: </a:t>
            </a:r>
            <a:r>
              <a:rPr lang="en-GB" sz="1600" dirty="0"/>
              <a:t>Moving average crossover successfully captured trends for top performers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sp>
        <p:nvSpPr>
          <p:cNvPr id="11" name="文本框 22"/>
          <p:cNvSpPr txBox="1"/>
          <p:nvPr/>
        </p:nvSpPr>
        <p:spPr>
          <a:xfrm>
            <a:off x="1118162" y="5819370"/>
            <a:ext cx="10376737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1600" b="1" dirty="0">
                <a:latin typeface="Arial" panose="020B0604020202020204" pitchFamily="34" charset="0"/>
              </a:rPr>
              <a:t>This analysis supports data-driven choices for strategic positioning, service optimization, and market expansion in the Trade Wise Stock Strategy .</a:t>
            </a:r>
          </a:p>
          <a:p>
            <a:pPr algn="ctr">
              <a:lnSpc>
                <a:spcPct val="150000"/>
              </a:lnSpc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blocks-with-angled-cuts_1423"/>
          <p:cNvSpPr>
            <a:spLocks noChangeAspect="1"/>
          </p:cNvSpPr>
          <p:nvPr/>
        </p:nvSpPr>
        <p:spPr bwMode="auto">
          <a:xfrm>
            <a:off x="916416" y="5889509"/>
            <a:ext cx="365617" cy="273765"/>
          </a:xfrm>
          <a:custGeom>
            <a:avLst/>
            <a:gdLst>
              <a:gd name="connsiteX0" fmla="*/ 551492 w 551492"/>
              <a:gd name="connsiteY0" fmla="*/ 0 h 412946"/>
              <a:gd name="connsiteX1" fmla="*/ 551492 w 551492"/>
              <a:gd name="connsiteY1" fmla="*/ 412946 h 412946"/>
              <a:gd name="connsiteX2" fmla="*/ 344812 w 551492"/>
              <a:gd name="connsiteY2" fmla="*/ 412946 h 412946"/>
              <a:gd name="connsiteX3" fmla="*/ 344812 w 551492"/>
              <a:gd name="connsiteY3" fmla="*/ 206473 h 412946"/>
              <a:gd name="connsiteX4" fmla="*/ 206680 w 551492"/>
              <a:gd name="connsiteY4" fmla="*/ 0 h 412946"/>
              <a:gd name="connsiteX5" fmla="*/ 206680 w 551492"/>
              <a:gd name="connsiteY5" fmla="*/ 412946 h 412946"/>
              <a:gd name="connsiteX6" fmla="*/ 0 w 551492"/>
              <a:gd name="connsiteY6" fmla="*/ 412946 h 412946"/>
              <a:gd name="connsiteX7" fmla="*/ 0 w 551492"/>
              <a:gd name="connsiteY7" fmla="*/ 206473 h 41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1492" h="412946">
                <a:moveTo>
                  <a:pt x="551492" y="0"/>
                </a:moveTo>
                <a:lnTo>
                  <a:pt x="551492" y="412946"/>
                </a:lnTo>
                <a:lnTo>
                  <a:pt x="344812" y="412946"/>
                </a:lnTo>
                <a:lnTo>
                  <a:pt x="344812" y="206473"/>
                </a:lnTo>
                <a:close/>
                <a:moveTo>
                  <a:pt x="206680" y="0"/>
                </a:moveTo>
                <a:lnTo>
                  <a:pt x="206680" y="412946"/>
                </a:lnTo>
                <a:lnTo>
                  <a:pt x="0" y="412946"/>
                </a:lnTo>
                <a:lnTo>
                  <a:pt x="0" y="206473"/>
                </a:ln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>
              <a:cs typeface="+mn-ea"/>
              <a:sym typeface="+mn-lt"/>
            </a:endParaRPr>
          </a:p>
        </p:txBody>
      </p:sp>
      <p:sp>
        <p:nvSpPr>
          <p:cNvPr id="14" name="blocks-with-angled-cuts_1423"/>
          <p:cNvSpPr>
            <a:spLocks noChangeAspect="1"/>
          </p:cNvSpPr>
          <p:nvPr/>
        </p:nvSpPr>
        <p:spPr bwMode="auto">
          <a:xfrm>
            <a:off x="11219252" y="6259824"/>
            <a:ext cx="365617" cy="273765"/>
          </a:xfrm>
          <a:custGeom>
            <a:avLst/>
            <a:gdLst>
              <a:gd name="connsiteX0" fmla="*/ 551492 w 551492"/>
              <a:gd name="connsiteY0" fmla="*/ 0 h 412946"/>
              <a:gd name="connsiteX1" fmla="*/ 551492 w 551492"/>
              <a:gd name="connsiteY1" fmla="*/ 412946 h 412946"/>
              <a:gd name="connsiteX2" fmla="*/ 344812 w 551492"/>
              <a:gd name="connsiteY2" fmla="*/ 412946 h 412946"/>
              <a:gd name="connsiteX3" fmla="*/ 344812 w 551492"/>
              <a:gd name="connsiteY3" fmla="*/ 206473 h 412946"/>
              <a:gd name="connsiteX4" fmla="*/ 206680 w 551492"/>
              <a:gd name="connsiteY4" fmla="*/ 0 h 412946"/>
              <a:gd name="connsiteX5" fmla="*/ 206680 w 551492"/>
              <a:gd name="connsiteY5" fmla="*/ 412946 h 412946"/>
              <a:gd name="connsiteX6" fmla="*/ 0 w 551492"/>
              <a:gd name="connsiteY6" fmla="*/ 412946 h 412946"/>
              <a:gd name="connsiteX7" fmla="*/ 0 w 551492"/>
              <a:gd name="connsiteY7" fmla="*/ 206473 h 41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1492" h="412946">
                <a:moveTo>
                  <a:pt x="551492" y="0"/>
                </a:moveTo>
                <a:lnTo>
                  <a:pt x="551492" y="412946"/>
                </a:lnTo>
                <a:lnTo>
                  <a:pt x="344812" y="412946"/>
                </a:lnTo>
                <a:lnTo>
                  <a:pt x="344812" y="206473"/>
                </a:lnTo>
                <a:close/>
                <a:moveTo>
                  <a:pt x="206680" y="0"/>
                </a:moveTo>
                <a:lnTo>
                  <a:pt x="206680" y="412946"/>
                </a:lnTo>
                <a:lnTo>
                  <a:pt x="0" y="412946"/>
                </a:lnTo>
                <a:lnTo>
                  <a:pt x="0" y="206473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</p:spPr>
        <p:txBody>
          <a:bodyPr/>
          <a:lstStyle/>
          <a:p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手动输入 3"/>
          <p:cNvSpPr/>
          <p:nvPr/>
        </p:nvSpPr>
        <p:spPr>
          <a:xfrm rot="5400000" flipH="1">
            <a:off x="1673469" y="-470039"/>
            <a:ext cx="4225161" cy="7586288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 rot="16200000" flipH="1">
            <a:off x="7216044" y="510445"/>
            <a:ext cx="4225161" cy="5726753"/>
          </a:xfrm>
          <a:custGeom>
            <a:avLst/>
            <a:gdLst>
              <a:gd name="connsiteX0" fmla="*/ 0 w 4225161"/>
              <a:gd name="connsiteY0" fmla="*/ 1517258 h 5726753"/>
              <a:gd name="connsiteX1" fmla="*/ 0 w 4225161"/>
              <a:gd name="connsiteY1" fmla="*/ 5726753 h 5726753"/>
              <a:gd name="connsiteX2" fmla="*/ 4225161 w 4225161"/>
              <a:gd name="connsiteY2" fmla="*/ 5726752 h 5726753"/>
              <a:gd name="connsiteX3" fmla="*/ 4225161 w 4225161"/>
              <a:gd name="connsiteY3" fmla="*/ 0 h 5726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5726753">
                <a:moveTo>
                  <a:pt x="0" y="1517258"/>
                </a:moveTo>
                <a:lnTo>
                  <a:pt x="0" y="5726753"/>
                </a:lnTo>
                <a:lnTo>
                  <a:pt x="4225161" y="5726752"/>
                </a:lnTo>
                <a:lnTo>
                  <a:pt x="4225161" y="0"/>
                </a:ln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 rot="16200000" flipH="1">
            <a:off x="6215606" y="881606"/>
            <a:ext cx="6858000" cy="5094789"/>
          </a:xfrm>
          <a:custGeom>
            <a:avLst/>
            <a:gdLst>
              <a:gd name="connsiteX0" fmla="*/ 0 w 6858000"/>
              <a:gd name="connsiteY0" fmla="*/ 2462712 h 5094789"/>
              <a:gd name="connsiteX1" fmla="*/ 0 w 6858000"/>
              <a:gd name="connsiteY1" fmla="*/ 5094789 h 5094789"/>
              <a:gd name="connsiteX2" fmla="*/ 6858000 w 6858000"/>
              <a:gd name="connsiteY2" fmla="*/ 5094788 h 5094789"/>
              <a:gd name="connsiteX3" fmla="*/ 6858000 w 6858000"/>
              <a:gd name="connsiteY3" fmla="*/ 0 h 509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5094789">
                <a:moveTo>
                  <a:pt x="0" y="2462712"/>
                </a:moveTo>
                <a:lnTo>
                  <a:pt x="0" y="5094789"/>
                </a:lnTo>
                <a:lnTo>
                  <a:pt x="6858000" y="5094788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 rot="16200000" flipH="1">
            <a:off x="8045310" y="1339711"/>
            <a:ext cx="4225161" cy="4068221"/>
          </a:xfrm>
          <a:custGeom>
            <a:avLst/>
            <a:gdLst>
              <a:gd name="connsiteX0" fmla="*/ 0 w 4225161"/>
              <a:gd name="connsiteY0" fmla="*/ 1517258 h 4068221"/>
              <a:gd name="connsiteX1" fmla="*/ 0 w 4225161"/>
              <a:gd name="connsiteY1" fmla="*/ 4068221 h 4068221"/>
              <a:gd name="connsiteX2" fmla="*/ 4225161 w 4225161"/>
              <a:gd name="connsiteY2" fmla="*/ 4068220 h 4068221"/>
              <a:gd name="connsiteX3" fmla="*/ 4225161 w 4225161"/>
              <a:gd name="connsiteY3" fmla="*/ 0 h 406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4068221">
                <a:moveTo>
                  <a:pt x="0" y="1517258"/>
                </a:moveTo>
                <a:lnTo>
                  <a:pt x="0" y="4068221"/>
                </a:lnTo>
                <a:lnTo>
                  <a:pt x="4225161" y="4068220"/>
                </a:lnTo>
                <a:lnTo>
                  <a:pt x="4225161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 rot="16200000" flipH="1">
            <a:off x="7044872" y="1710871"/>
            <a:ext cx="6858000" cy="3436258"/>
          </a:xfrm>
          <a:custGeom>
            <a:avLst/>
            <a:gdLst>
              <a:gd name="connsiteX0" fmla="*/ 0 w 6858000"/>
              <a:gd name="connsiteY0" fmla="*/ 2462712 h 3436258"/>
              <a:gd name="connsiteX1" fmla="*/ 0 w 6858000"/>
              <a:gd name="connsiteY1" fmla="*/ 3436258 h 3436258"/>
              <a:gd name="connsiteX2" fmla="*/ 6858000 w 6858000"/>
              <a:gd name="connsiteY2" fmla="*/ 3436257 h 3436258"/>
              <a:gd name="connsiteX3" fmla="*/ 6858000 w 6858000"/>
              <a:gd name="connsiteY3" fmla="*/ 0 h 343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3436258">
                <a:moveTo>
                  <a:pt x="0" y="2462712"/>
                </a:moveTo>
                <a:lnTo>
                  <a:pt x="0" y="3436258"/>
                </a:lnTo>
                <a:lnTo>
                  <a:pt x="6858000" y="3436257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59552" y="1422314"/>
            <a:ext cx="5708393" cy="2774816"/>
            <a:chOff x="559552" y="1422314"/>
            <a:chExt cx="5708393" cy="2774816"/>
          </a:xfrm>
        </p:grpSpPr>
        <p:sp>
          <p:nvSpPr>
            <p:cNvPr id="29" name="文本框 28"/>
            <p:cNvSpPr txBox="1"/>
            <p:nvPr/>
          </p:nvSpPr>
          <p:spPr>
            <a:xfrm>
              <a:off x="634578" y="1422314"/>
              <a:ext cx="21237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i="1" dirty="0">
                  <a:solidFill>
                    <a:srgbClr val="E20000"/>
                  </a:solidFill>
                  <a:cs typeface="+mn-ea"/>
                  <a:sym typeface="+mn-lt"/>
                </a:rPr>
                <a:t>2</a:t>
              </a:r>
              <a:r>
                <a:rPr lang="en-US" altLang="zh-CN" sz="5400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zh-CN" sz="5400" i="1" dirty="0">
                  <a:solidFill>
                    <a:srgbClr val="E20000"/>
                  </a:solidFill>
                  <a:cs typeface="+mn-ea"/>
                  <a:sym typeface="+mn-lt"/>
                </a:rPr>
                <a:t>2</a:t>
              </a:r>
              <a:r>
                <a:rPr lang="en-US" altLang="zh-CN" sz="5400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6</a:t>
              </a:r>
              <a:endParaRPr lang="zh-CN" altLang="en-US" sz="5400" i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59552" y="2340822"/>
              <a:ext cx="570839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5400" b="1" i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</a:defRPr>
              </a:lvl1pPr>
            </a:lstStyle>
            <a:p>
              <a:r>
                <a:rPr lang="en-US" altLang="zh-CN" sz="7200" dirty="0">
                  <a:sym typeface="+mn-lt"/>
                </a:rPr>
                <a:t>Thank you</a:t>
              </a:r>
              <a:endParaRPr lang="zh-CN" altLang="en-US" sz="7200" dirty="0"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93074" y="4146413"/>
              <a:ext cx="482138" cy="50717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90862" y="4662390"/>
            <a:ext cx="3609443" cy="314481"/>
            <a:chOff x="4414802" y="4745227"/>
            <a:chExt cx="3609443" cy="314481"/>
          </a:xfrm>
        </p:grpSpPr>
        <p:grpSp>
          <p:nvGrpSpPr>
            <p:cNvPr id="3" name="组合 2"/>
            <p:cNvGrpSpPr/>
            <p:nvPr/>
          </p:nvGrpSpPr>
          <p:grpSpPr>
            <a:xfrm>
              <a:off x="6654696" y="4763888"/>
              <a:ext cx="290407" cy="290407"/>
              <a:chOff x="2633025" y="5543873"/>
              <a:chExt cx="290407" cy="290407"/>
            </a:xfrm>
            <a:solidFill>
              <a:schemeClr val="bg1"/>
            </a:solidFill>
          </p:grpSpPr>
          <p:sp>
            <p:nvSpPr>
              <p:cNvPr id="12" name="Oval 15"/>
              <p:cNvSpPr/>
              <p:nvPr/>
            </p:nvSpPr>
            <p:spPr bwMode="auto">
              <a:xfrm>
                <a:off x="2633025" y="5543873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3" name="Group 16"/>
              <p:cNvGrpSpPr/>
              <p:nvPr/>
            </p:nvGrpSpPr>
            <p:grpSpPr bwMode="auto">
              <a:xfrm>
                <a:off x="2726440" y="5588961"/>
                <a:ext cx="104062" cy="180353"/>
                <a:chOff x="4441" y="3117"/>
                <a:chExt cx="215" cy="372"/>
              </a:xfrm>
              <a:grpFill/>
            </p:grpSpPr>
            <p:sp>
              <p:nvSpPr>
                <p:cNvPr id="14" name="Freeform 17"/>
                <p:cNvSpPr/>
                <p:nvPr/>
              </p:nvSpPr>
              <p:spPr bwMode="auto">
                <a:xfrm>
                  <a:off x="4474" y="3117"/>
                  <a:ext cx="149" cy="253"/>
                </a:xfrm>
                <a:custGeom>
                  <a:avLst/>
                  <a:gdLst>
                    <a:gd name="T0" fmla="*/ 31 w 63"/>
                    <a:gd name="T1" fmla="*/ 107 h 107"/>
                    <a:gd name="T2" fmla="*/ 63 w 63"/>
                    <a:gd name="T3" fmla="*/ 78 h 107"/>
                    <a:gd name="T4" fmla="*/ 63 w 63"/>
                    <a:gd name="T5" fmla="*/ 29 h 107"/>
                    <a:gd name="T6" fmla="*/ 31 w 63"/>
                    <a:gd name="T7" fmla="*/ 0 h 107"/>
                    <a:gd name="T8" fmla="*/ 0 w 63"/>
                    <a:gd name="T9" fmla="*/ 29 h 107"/>
                    <a:gd name="T10" fmla="*/ 0 w 63"/>
                    <a:gd name="T11" fmla="*/ 78 h 107"/>
                    <a:gd name="T12" fmla="*/ 31 w 63"/>
                    <a:gd name="T13" fmla="*/ 107 h 107"/>
                    <a:gd name="T14" fmla="*/ 10 w 63"/>
                    <a:gd name="T15" fmla="*/ 29 h 107"/>
                    <a:gd name="T16" fmla="*/ 31 w 63"/>
                    <a:gd name="T17" fmla="*/ 10 h 107"/>
                    <a:gd name="T18" fmla="*/ 53 w 63"/>
                    <a:gd name="T19" fmla="*/ 29 h 107"/>
                    <a:gd name="T20" fmla="*/ 53 w 63"/>
                    <a:gd name="T21" fmla="*/ 78 h 107"/>
                    <a:gd name="T22" fmla="*/ 31 w 63"/>
                    <a:gd name="T23" fmla="*/ 97 h 107"/>
                    <a:gd name="T24" fmla="*/ 10 w 63"/>
                    <a:gd name="T25" fmla="*/ 78 h 107"/>
                    <a:gd name="T26" fmla="*/ 10 w 63"/>
                    <a:gd name="T27" fmla="*/ 2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3" h="107">
                      <a:moveTo>
                        <a:pt x="31" y="107"/>
                      </a:moveTo>
                      <a:cubicBezTo>
                        <a:pt x="49" y="107"/>
                        <a:pt x="63" y="94"/>
                        <a:pt x="63" y="78"/>
                      </a:cubicBezTo>
                      <a:cubicBezTo>
                        <a:pt x="63" y="29"/>
                        <a:pt x="63" y="29"/>
                        <a:pt x="63" y="29"/>
                      </a:cubicBezTo>
                      <a:cubicBezTo>
                        <a:pt x="63" y="13"/>
                        <a:pt x="49" y="0"/>
                        <a:pt x="31" y="0"/>
                      </a:cubicBezTo>
                      <a:cubicBezTo>
                        <a:pt x="14" y="0"/>
                        <a:pt x="0" y="13"/>
                        <a:pt x="0" y="29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94"/>
                        <a:pt x="14" y="107"/>
                        <a:pt x="31" y="107"/>
                      </a:cubicBezTo>
                      <a:close/>
                      <a:moveTo>
                        <a:pt x="10" y="29"/>
                      </a:moveTo>
                      <a:cubicBezTo>
                        <a:pt x="10" y="18"/>
                        <a:pt x="19" y="10"/>
                        <a:pt x="31" y="10"/>
                      </a:cubicBezTo>
                      <a:cubicBezTo>
                        <a:pt x="43" y="10"/>
                        <a:pt x="53" y="18"/>
                        <a:pt x="53" y="29"/>
                      </a:cubicBezTo>
                      <a:cubicBezTo>
                        <a:pt x="53" y="78"/>
                        <a:pt x="53" y="78"/>
                        <a:pt x="53" y="78"/>
                      </a:cubicBezTo>
                      <a:cubicBezTo>
                        <a:pt x="53" y="88"/>
                        <a:pt x="43" y="97"/>
                        <a:pt x="31" y="97"/>
                      </a:cubicBezTo>
                      <a:cubicBezTo>
                        <a:pt x="19" y="97"/>
                        <a:pt x="10" y="88"/>
                        <a:pt x="10" y="78"/>
                      </a:cubicBezTo>
                      <a:lnTo>
                        <a:pt x="10" y="29"/>
                      </a:ln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Freeform 18"/>
                <p:cNvSpPr/>
                <p:nvPr/>
              </p:nvSpPr>
              <p:spPr bwMode="auto">
                <a:xfrm>
                  <a:off x="4441" y="3267"/>
                  <a:ext cx="215" cy="222"/>
                </a:xfrm>
                <a:custGeom>
                  <a:avLst/>
                  <a:gdLst>
                    <a:gd name="T0" fmla="*/ 86 w 91"/>
                    <a:gd name="T1" fmla="*/ 0 h 94"/>
                    <a:gd name="T2" fmla="*/ 81 w 91"/>
                    <a:gd name="T3" fmla="*/ 5 h 94"/>
                    <a:gd name="T4" fmla="*/ 81 w 91"/>
                    <a:gd name="T5" fmla="*/ 28 h 94"/>
                    <a:gd name="T6" fmla="*/ 45 w 91"/>
                    <a:gd name="T7" fmla="*/ 59 h 94"/>
                    <a:gd name="T8" fmla="*/ 10 w 91"/>
                    <a:gd name="T9" fmla="*/ 28 h 94"/>
                    <a:gd name="T10" fmla="*/ 10 w 91"/>
                    <a:gd name="T11" fmla="*/ 5 h 94"/>
                    <a:gd name="T12" fmla="*/ 5 w 91"/>
                    <a:gd name="T13" fmla="*/ 0 h 94"/>
                    <a:gd name="T14" fmla="*/ 0 w 91"/>
                    <a:gd name="T15" fmla="*/ 5 h 94"/>
                    <a:gd name="T16" fmla="*/ 0 w 91"/>
                    <a:gd name="T17" fmla="*/ 28 h 94"/>
                    <a:gd name="T18" fmla="*/ 40 w 91"/>
                    <a:gd name="T19" fmla="*/ 69 h 94"/>
                    <a:gd name="T20" fmla="*/ 40 w 91"/>
                    <a:gd name="T21" fmla="*/ 84 h 94"/>
                    <a:gd name="T22" fmla="*/ 20 w 91"/>
                    <a:gd name="T23" fmla="*/ 84 h 94"/>
                    <a:gd name="T24" fmla="*/ 15 w 91"/>
                    <a:gd name="T25" fmla="*/ 89 h 94"/>
                    <a:gd name="T26" fmla="*/ 20 w 91"/>
                    <a:gd name="T27" fmla="*/ 94 h 94"/>
                    <a:gd name="T28" fmla="*/ 70 w 91"/>
                    <a:gd name="T29" fmla="*/ 94 h 94"/>
                    <a:gd name="T30" fmla="*/ 75 w 91"/>
                    <a:gd name="T31" fmla="*/ 89 h 94"/>
                    <a:gd name="T32" fmla="*/ 70 w 91"/>
                    <a:gd name="T33" fmla="*/ 84 h 94"/>
                    <a:gd name="T34" fmla="*/ 50 w 91"/>
                    <a:gd name="T35" fmla="*/ 84 h 94"/>
                    <a:gd name="T36" fmla="*/ 50 w 91"/>
                    <a:gd name="T37" fmla="*/ 69 h 94"/>
                    <a:gd name="T38" fmla="*/ 91 w 91"/>
                    <a:gd name="T39" fmla="*/ 28 h 94"/>
                    <a:gd name="T40" fmla="*/ 91 w 91"/>
                    <a:gd name="T41" fmla="*/ 5 h 94"/>
                    <a:gd name="T42" fmla="*/ 86 w 91"/>
                    <a:gd name="T43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1" h="94">
                      <a:moveTo>
                        <a:pt x="86" y="0"/>
                      </a:moveTo>
                      <a:cubicBezTo>
                        <a:pt x="83" y="0"/>
                        <a:pt x="81" y="3"/>
                        <a:pt x="81" y="5"/>
                      </a:cubicBezTo>
                      <a:cubicBezTo>
                        <a:pt x="81" y="28"/>
                        <a:pt x="81" y="28"/>
                        <a:pt x="81" y="28"/>
                      </a:cubicBezTo>
                      <a:cubicBezTo>
                        <a:pt x="81" y="45"/>
                        <a:pt x="65" y="59"/>
                        <a:pt x="45" y="59"/>
                      </a:cubicBezTo>
                      <a:cubicBezTo>
                        <a:pt x="26" y="59"/>
                        <a:pt x="10" y="45"/>
                        <a:pt x="10" y="28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2"/>
                        <a:pt x="8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49"/>
                        <a:pt x="18" y="67"/>
                        <a:pt x="40" y="69"/>
                      </a:cubicBezTo>
                      <a:cubicBezTo>
                        <a:pt x="40" y="84"/>
                        <a:pt x="40" y="84"/>
                        <a:pt x="40" y="84"/>
                      </a:cubicBezTo>
                      <a:cubicBezTo>
                        <a:pt x="20" y="84"/>
                        <a:pt x="20" y="84"/>
                        <a:pt x="20" y="84"/>
                      </a:cubicBezTo>
                      <a:cubicBezTo>
                        <a:pt x="18" y="84"/>
                        <a:pt x="15" y="86"/>
                        <a:pt x="15" y="89"/>
                      </a:cubicBezTo>
                      <a:cubicBezTo>
                        <a:pt x="15" y="92"/>
                        <a:pt x="18" y="94"/>
                        <a:pt x="20" y="94"/>
                      </a:cubicBezTo>
                      <a:cubicBezTo>
                        <a:pt x="70" y="94"/>
                        <a:pt x="70" y="94"/>
                        <a:pt x="70" y="94"/>
                      </a:cubicBezTo>
                      <a:cubicBezTo>
                        <a:pt x="73" y="94"/>
                        <a:pt x="75" y="92"/>
                        <a:pt x="75" y="89"/>
                      </a:cubicBezTo>
                      <a:cubicBezTo>
                        <a:pt x="75" y="86"/>
                        <a:pt x="73" y="84"/>
                        <a:pt x="70" y="84"/>
                      </a:cubicBez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73" y="67"/>
                        <a:pt x="91" y="49"/>
                        <a:pt x="91" y="28"/>
                      </a:cubicBezTo>
                      <a:cubicBezTo>
                        <a:pt x="91" y="5"/>
                        <a:pt x="91" y="5"/>
                        <a:pt x="91" y="5"/>
                      </a:cubicBezTo>
                      <a:cubicBezTo>
                        <a:pt x="91" y="3"/>
                        <a:pt x="88" y="0"/>
                        <a:pt x="86" y="0"/>
                      </a:cubicBez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4414802" y="4745227"/>
              <a:ext cx="290407" cy="290407"/>
              <a:chOff x="732769" y="5535598"/>
              <a:chExt cx="290407" cy="290407"/>
            </a:xfrm>
            <a:solidFill>
              <a:schemeClr val="bg1"/>
            </a:solidFill>
          </p:grpSpPr>
          <p:sp>
            <p:nvSpPr>
              <p:cNvPr id="8" name="Oval 10"/>
              <p:cNvSpPr/>
              <p:nvPr/>
            </p:nvSpPr>
            <p:spPr bwMode="auto">
              <a:xfrm>
                <a:off x="732769" y="5535598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 dirty="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811795" y="5598991"/>
                <a:ext cx="132841" cy="151011"/>
                <a:chOff x="860980" y="3583766"/>
                <a:chExt cx="100336" cy="114060"/>
              </a:xfrm>
              <a:grpFill/>
            </p:grpSpPr>
            <p:sp>
              <p:nvSpPr>
                <p:cNvPr id="10" name="Freeform 12"/>
                <p:cNvSpPr/>
                <p:nvPr/>
              </p:nvSpPr>
              <p:spPr bwMode="auto">
                <a:xfrm>
                  <a:off x="884050" y="3583766"/>
                  <a:ext cx="53830" cy="53740"/>
                </a:xfrm>
                <a:custGeom>
                  <a:avLst/>
                  <a:gdLst>
                    <a:gd name="T0" fmla="*/ 31 w 62"/>
                    <a:gd name="T1" fmla="*/ 62 h 62"/>
                    <a:gd name="T2" fmla="*/ 0 w 62"/>
                    <a:gd name="T3" fmla="*/ 31 h 62"/>
                    <a:gd name="T4" fmla="*/ 31 w 62"/>
                    <a:gd name="T5" fmla="*/ 0 h 62"/>
                    <a:gd name="T6" fmla="*/ 62 w 62"/>
                    <a:gd name="T7" fmla="*/ 31 h 62"/>
                    <a:gd name="T8" fmla="*/ 31 w 62"/>
                    <a:gd name="T9" fmla="*/ 62 h 62"/>
                    <a:gd name="T10" fmla="*/ 31 w 62"/>
                    <a:gd name="T11" fmla="*/ 11 h 62"/>
                    <a:gd name="T12" fmla="*/ 11 w 62"/>
                    <a:gd name="T13" fmla="*/ 31 h 62"/>
                    <a:gd name="T14" fmla="*/ 31 w 62"/>
                    <a:gd name="T15" fmla="*/ 51 h 62"/>
                    <a:gd name="T16" fmla="*/ 51 w 62"/>
                    <a:gd name="T17" fmla="*/ 31 h 62"/>
                    <a:gd name="T18" fmla="*/ 31 w 62"/>
                    <a:gd name="T19" fmla="*/ 11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2" h="62">
                      <a:moveTo>
                        <a:pt x="31" y="62"/>
                      </a:moveTo>
                      <a:cubicBezTo>
                        <a:pt x="14" y="62"/>
                        <a:pt x="0" y="48"/>
                        <a:pt x="0" y="31"/>
                      </a:cubicBezTo>
                      <a:cubicBezTo>
                        <a:pt x="0" y="14"/>
                        <a:pt x="14" y="0"/>
                        <a:pt x="31" y="0"/>
                      </a:cubicBezTo>
                      <a:cubicBezTo>
                        <a:pt x="48" y="0"/>
                        <a:pt x="62" y="14"/>
                        <a:pt x="62" y="31"/>
                      </a:cubicBezTo>
                      <a:cubicBezTo>
                        <a:pt x="62" y="48"/>
                        <a:pt x="48" y="62"/>
                        <a:pt x="31" y="62"/>
                      </a:cubicBezTo>
                      <a:close/>
                      <a:moveTo>
                        <a:pt x="31" y="11"/>
                      </a:moveTo>
                      <a:cubicBezTo>
                        <a:pt x="20" y="11"/>
                        <a:pt x="11" y="20"/>
                        <a:pt x="11" y="31"/>
                      </a:cubicBezTo>
                      <a:cubicBezTo>
                        <a:pt x="11" y="42"/>
                        <a:pt x="20" y="51"/>
                        <a:pt x="31" y="51"/>
                      </a:cubicBezTo>
                      <a:cubicBezTo>
                        <a:pt x="42" y="51"/>
                        <a:pt x="51" y="42"/>
                        <a:pt x="51" y="31"/>
                      </a:cubicBezTo>
                      <a:cubicBezTo>
                        <a:pt x="51" y="20"/>
                        <a:pt x="42" y="11"/>
                        <a:pt x="31" y="11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Freeform 13"/>
                <p:cNvSpPr/>
                <p:nvPr/>
              </p:nvSpPr>
              <p:spPr bwMode="auto">
                <a:xfrm>
                  <a:off x="860980" y="3643355"/>
                  <a:ext cx="100336" cy="54471"/>
                </a:xfrm>
                <a:custGeom>
                  <a:avLst/>
                  <a:gdLst>
                    <a:gd name="T0" fmla="*/ 111 w 116"/>
                    <a:gd name="T1" fmla="*/ 63 h 63"/>
                    <a:gd name="T2" fmla="*/ 105 w 116"/>
                    <a:gd name="T3" fmla="*/ 58 h 63"/>
                    <a:gd name="T4" fmla="*/ 58 w 116"/>
                    <a:gd name="T5" fmla="*/ 11 h 63"/>
                    <a:gd name="T6" fmla="*/ 11 w 116"/>
                    <a:gd name="T7" fmla="*/ 58 h 63"/>
                    <a:gd name="T8" fmla="*/ 6 w 116"/>
                    <a:gd name="T9" fmla="*/ 63 h 63"/>
                    <a:gd name="T10" fmla="*/ 0 w 116"/>
                    <a:gd name="T11" fmla="*/ 58 h 63"/>
                    <a:gd name="T12" fmla="*/ 58 w 116"/>
                    <a:gd name="T13" fmla="*/ 0 h 63"/>
                    <a:gd name="T14" fmla="*/ 116 w 116"/>
                    <a:gd name="T15" fmla="*/ 58 h 63"/>
                    <a:gd name="T16" fmla="*/ 111 w 116"/>
                    <a:gd name="T1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63">
                      <a:moveTo>
                        <a:pt x="111" y="63"/>
                      </a:moveTo>
                      <a:cubicBezTo>
                        <a:pt x="108" y="63"/>
                        <a:pt x="105" y="61"/>
                        <a:pt x="105" y="58"/>
                      </a:cubicBezTo>
                      <a:cubicBezTo>
                        <a:pt x="105" y="32"/>
                        <a:pt x="84" y="11"/>
                        <a:pt x="58" y="11"/>
                      </a:cubicBezTo>
                      <a:cubicBezTo>
                        <a:pt x="32" y="11"/>
                        <a:pt x="11" y="32"/>
                        <a:pt x="11" y="58"/>
                      </a:cubicBezTo>
                      <a:cubicBezTo>
                        <a:pt x="11" y="61"/>
                        <a:pt x="9" y="63"/>
                        <a:pt x="6" y="63"/>
                      </a:cubicBezTo>
                      <a:cubicBezTo>
                        <a:pt x="3" y="63"/>
                        <a:pt x="0" y="61"/>
                        <a:pt x="0" y="58"/>
                      </a:cubicBezTo>
                      <a:cubicBezTo>
                        <a:pt x="0" y="26"/>
                        <a:pt x="26" y="0"/>
                        <a:pt x="58" y="0"/>
                      </a:cubicBezTo>
                      <a:cubicBezTo>
                        <a:pt x="90" y="0"/>
                        <a:pt x="116" y="26"/>
                        <a:pt x="116" y="58"/>
                      </a:cubicBezTo>
                      <a:cubicBezTo>
                        <a:pt x="116" y="61"/>
                        <a:pt x="114" y="63"/>
                        <a:pt x="111" y="63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6" name="Text Box 20"/>
            <p:cNvSpPr txBox="1"/>
            <p:nvPr/>
          </p:nvSpPr>
          <p:spPr bwMode="auto">
            <a:xfrm>
              <a:off x="6945103" y="4751931"/>
              <a:ext cx="107914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01.07.2026</a:t>
              </a:r>
              <a:endParaRPr lang="zh-CN" altLang="en-US" sz="1400" dirty="0">
                <a:solidFill>
                  <a:srgbClr val="36396E"/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705028" y="4751931"/>
              <a:ext cx="177805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Prince Kumar Singh</a:t>
              </a:r>
              <a:endParaRPr lang="zh-CN" altLang="en-US" sz="1400" dirty="0">
                <a:solidFill>
                  <a:srgbClr val="36396E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4" grpId="0" animBg="1"/>
      <p:bldP spid="26" grpId="0" animBg="1"/>
      <p:bldP spid="18" grpId="0" animBg="1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pmxedq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pmxedq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1008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Microsoft YaHei</vt:lpstr>
      <vt:lpstr>Arial</vt:lpstr>
      <vt:lpstr>Calibri</vt:lpstr>
      <vt:lpstr>Wingdings</vt:lpstr>
      <vt:lpstr>第一PPT，www.1ppt.com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</dc:title>
  <dc:creator/>
  <cp:lastModifiedBy>PRINCE KUMAR SINGH</cp:lastModifiedBy>
  <cp:revision>59</cp:revision>
  <dcterms:created xsi:type="dcterms:W3CDTF">2019-11-26T05:55:00Z</dcterms:created>
  <dcterms:modified xsi:type="dcterms:W3CDTF">2026-07-01T04:39:05Z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29A9FFEE5C9A4C4E9748B486361B73CE_12</vt:lpwstr>
  </property>
  <property fmtid="{D5CDD505-2E9C-101B-9397-08002B2CF9AE}" pid="3" name="KSOProductBuildVer">
    <vt:lpwstr>1033-12.2.0.21179</vt:lpwstr>
  </property>
</Properties>
</file>